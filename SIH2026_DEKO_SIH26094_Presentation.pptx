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600">
                <a:solidFill>
                  <a:srgbClr val="0F172A"/>
                </a:solidFill>
              </a:defRPr>
            </a:pPr>
            <a:r>
              <a:t>SMART INDIA HACKATHON 2026</a:t>
            </a:r>
          </a:p>
          <a:p>
            <a:pPr algn="ctr">
              <a:defRPr b="1" sz="1600">
                <a:solidFill>
                  <a:srgbClr val="2563EB"/>
                </a:solidFill>
              </a:defRPr>
            </a:pPr>
            <a:r>
              <a:t>IDEA SUBMISSION (SOFTWARE EDITION)</a:t>
            </a:r>
          </a:p>
        </p:txBody>
      </p:sp>
      <p:pic>
        <p:nvPicPr>
          <p:cNvPr id="3" name="Picture 2" descr="perfe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737360" cy="88524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49440" y="1371600"/>
            <a:ext cx="4114800" cy="475488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nsparent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45920"/>
            <a:ext cx="3383280" cy="36181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46304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Problem Statement ID : </a:t>
            </a:r>
            <a:r>
              <a:rPr b="1" sz="1200">
                <a:solidFill>
                  <a:srgbClr val="2563EB"/>
                </a:solidFill>
              </a:rPr>
              <a:t>SIH26094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Problem Statement Title : </a:t>
            </a:r>
            <a:r>
              <a:rPr b="0" sz="1200">
                <a:solidFill>
                  <a:srgbClr val="334155"/>
                </a:solidFill>
              </a:rPr>
              <a:t>AI-Powered Dynamic Mental Health Monitoring and
Distress Prediction System for Victims of Atrocities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Ministry / Organization : </a:t>
            </a:r>
            <a:r>
              <a:rPr b="0" sz="1200">
                <a:solidFill>
                  <a:srgbClr val="334155"/>
                </a:solidFill>
              </a:rPr>
              <a:t>Ministry of Social Justice and Empowerment (MoSJE)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Department : </a:t>
            </a:r>
            <a:r>
              <a:rPr b="0" sz="1200">
                <a:solidFill>
                  <a:srgbClr val="334155"/>
                </a:solidFill>
              </a:rPr>
              <a:t>Department of Social Justice and Empowerment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Theme : </a:t>
            </a:r>
            <a:r>
              <a:rPr b="0" sz="1200">
                <a:solidFill>
                  <a:srgbClr val="334155"/>
                </a:solidFill>
              </a:rPr>
              <a:t>MedTech / BioTech / HealthTech (AI/ML &amp; Cloud)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PS Category : </a:t>
            </a:r>
            <a:r>
              <a:rPr b="0" sz="1200">
                <a:solidFill>
                  <a:srgbClr val="334155"/>
                </a:solidFill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Team ID : </a:t>
            </a:r>
            <a:r>
              <a:rPr b="1" sz="1200">
                <a:solidFill>
                  <a:srgbClr val="2563EB"/>
                </a:solidFill>
              </a:rPr>
              <a:t>141444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Team Name (Registered on portal) : </a:t>
            </a:r>
            <a:r>
              <a:rPr b="1" sz="1200">
                <a:solidFill>
                  <a:srgbClr val="2563EB"/>
                </a:solidFill>
              </a:rPr>
              <a:t>DEKO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Team Leader : </a:t>
            </a:r>
            <a:r>
              <a:rPr b="0" sz="1200">
                <a:solidFill>
                  <a:srgbClr val="334155"/>
                </a:solidFill>
              </a:rPr>
              <a:t>BALAJI P (balajikrishnan031@gmail.com | +91 9342636595)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Team Members : </a:t>
            </a:r>
            <a:r>
              <a:rPr b="0" sz="1200">
                <a:solidFill>
                  <a:srgbClr val="334155"/>
                </a:solidFill>
              </a:rPr>
              <a:t>NAVANEETHAM V, MALINI V, DHAVAN R G (IV Year),
DEEBIKA S, DHARA R (II Year) - B.E CSE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College / Institute : </a:t>
            </a:r>
            <a:r>
              <a:rPr b="0" sz="1200">
                <a:solidFill>
                  <a:srgbClr val="334155"/>
                </a:solidFill>
              </a:rPr>
              <a:t>University College of Engineering, Panruti (Anna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noFill/>
          <a:ln w="19050">
            <a:solidFill>
              <a:srgbClr val="6B6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DEKO</a:t>
            </a:r>
          </a:p>
          <a:p>
            <a:pPr algn="ctr">
              <a:defRPr b="1" sz="1000">
                <a:solidFill>
                  <a:srgbClr val="2563EB"/>
                </a:solidFill>
              </a:defRPr>
            </a:pPr>
            <a:r>
              <a:t>Team 141444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23A8A"/>
                </a:solidFill>
              </a:defRPr>
            </a:pPr>
            <a:r>
              <a:t>PROPOSED SOLUTION: KEFI AI DYNAMIC DISTRESS &amp; CRISIS SHIELD</a:t>
            </a:r>
          </a:p>
        </p:txBody>
      </p:sp>
      <p:pic>
        <p:nvPicPr>
          <p:cNvPr id="4" name="Picture 3" descr="perfe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737360" cy="8852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6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                @SIH Idea submission- Template                                                                               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4864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123A8A"/>
                </a:solidFill>
              </a:defRPr>
            </a:pPr>
            <a:r>
              <a:t>PROPOSED SOLUTION &amp; CORE CAPABILITIES: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• Continuous Post-Complaint Care: </a:t>
            </a:r>
            <a:r>
              <a:rPr sz="1000">
                <a:solidFill>
                  <a:srgbClr val="334155"/>
                </a:solidFill>
              </a:rPr>
              <a:t>Proactively monitors atrocity victims (SC/ST PoA Act 1989 / NHAA 14566) across legal trial &amp; rehabilitation phases with automated check-ins.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• Omnichannel Multimodal Ingestion: </a:t>
            </a:r>
            <a:r>
              <a:rPr sz="1000">
                <a:solidFill>
                  <a:srgbClr val="334155"/>
                </a:solidFill>
              </a:rPr>
              <a:t>Hooks into NHAA 14566 SIP lines, Citizen Web portal, Chatbot API, SMS &amp; Mobile App with DPDP-compliant consent.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• Dynamic Distress Scoring (DDS 0–100): </a:t>
            </a:r>
            <a:r>
              <a:rPr sz="1000">
                <a:solidFill>
                  <a:srgbClr val="334155"/>
                </a:solidFill>
              </a:rPr>
              <a:t>Continuous multi-vector metric DDS = 0.25E + 0.20V + 0.15B + 0.15H + 0.10C + 0.15T combining emotion valence, vocal tremor, behavior &amp; legal delays.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• 72-Hour Longitudinal Crisis Forecasting: </a:t>
            </a:r>
            <a:r>
              <a:rPr sz="1000">
                <a:solidFill>
                  <a:srgbClr val="334155"/>
                </a:solidFill>
              </a:rPr>
              <a:t>Computes distress trend velocity (dDDS/dt) over 7-day rolling window to forecast crisis 72 hours prior to acute escalation.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• 3-Tier Risk Bands &amp; Action Matrix: </a:t>
            </a:r>
            <a:r>
              <a:rPr sz="1000">
                <a:solidFill>
                  <a:srgbClr val="334155"/>
                </a:solidFill>
              </a:rPr>
              <a:t>0–30: Self-help grounding audio | 31–60: Tele-counselling intervention | 61–100: Real-time emergency alert to DM / SP dashboard &amp; crisis dispatch.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• Explainable AI (XAI) &amp; Human Gate: </a:t>
            </a:r>
            <a:r>
              <a:rPr sz="1000">
                <a:solidFill>
                  <a:srgbClr val="334155"/>
                </a:solidFill>
              </a:rPr>
              <a:t>SHAP/LIME point attributions (+24 threat cue, +18 vocal tremor, +15 case delay) ensure auditable decision transparency.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074920" cy="196596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0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14300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23A8A"/>
                </a:solidFill>
              </a:defRPr>
            </a:pPr>
            <a:r>
              <a:t>Victim Experience &amp; Multichannel Hub (14566, Web, Chatbot &amp; App)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• Omnichannel Multi-Access: </a:t>
            </a:r>
            <a:r>
              <a:rPr sz="950">
                <a:solidFill>
                  <a:srgbClr val="334155"/>
                </a:solidFill>
              </a:rPr>
              <a:t>Direct toll-free 14566 calling, Citizen Web portal, Tanglish Chatbot &amp; Mobile App SDK.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• Tanglish &amp; Multilingual AI: </a:t>
            </a:r>
            <a:r>
              <a:rPr sz="950">
                <a:solidFill>
                  <a:srgbClr val="334155"/>
                </a:solidFill>
              </a:rPr>
              <a:t>Native support for Tanglish (Tamil-English), Tamil, Hindi &amp; English with voice dialogue.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• Calm Space &amp; Silent Sanctuary: </a:t>
            </a:r>
            <a:r>
              <a:rPr sz="950">
                <a:solidFill>
                  <a:srgbClr val="334155"/>
                </a:solidFill>
              </a:rPr>
              <a:t>Interactive emotion wheel, Box Breathing (4-4-4-4) &amp; non-verbal Silent Mode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46120"/>
            <a:ext cx="5074920" cy="196596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0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29184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23A8A"/>
                </a:solidFill>
              </a:defRPr>
            </a:pPr>
            <a:r>
              <a:t>District Magistrate, Police &amp; Tele-Counsellor Command (Triage &amp; Case Action)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• Unified Real-Time Distress HUD: </a:t>
            </a:r>
            <a:r>
              <a:rPr sz="950">
                <a:solidFill>
                  <a:srgbClr val="334155"/>
                </a:solidFill>
              </a:rPr>
              <a:t>District map visualizes victim distress velocity, hotspot clusters &amp; overdue relief.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• Automated Red-Band Alerts: </a:t>
            </a:r>
            <a:r>
              <a:rPr sz="950">
                <a:solidFill>
                  <a:srgbClr val="334155"/>
                </a:solidFill>
              </a:rPr>
              <a:t>Real-time emergency escalation to DM, SP &amp; designated counsellors when score &gt; 60.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• Statutory Relief Tracking: </a:t>
            </a:r>
            <a:r>
              <a:rPr sz="950">
                <a:solidFill>
                  <a:srgbClr val="334155"/>
                </a:solidFill>
              </a:rPr>
              <a:t>Tracks Section 15A witness protection protocols and Rule 12(4) stage-wise relief disbursement.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440680"/>
            <a:ext cx="3383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72-Hour Crisis Early Warning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Distress velocity (dDDS/dt) predicting crises 72 hours prior.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5440680"/>
            <a:ext cx="3383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Tanglish &amp; Low-Bandwidth Mode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Full offline grounding audio, low-data layout &amp; SMS fallback.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5440680"/>
            <a:ext cx="3383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3-Tier Multi-Agency Action Matrix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Self-help -&gt; Tele-counselling -&gt; DM/SP witness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noFill/>
          <a:ln w="19050">
            <a:solidFill>
              <a:srgbClr val="6B6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DEKO</a:t>
            </a:r>
          </a:p>
          <a:p>
            <a:pPr algn="ctr">
              <a:defRPr b="1" sz="1000">
                <a:solidFill>
                  <a:srgbClr val="2563EB"/>
                </a:solidFill>
              </a:defRPr>
            </a:pPr>
            <a:r>
              <a:t>Team 141444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23A8A"/>
                </a:solidFill>
              </a:defRPr>
            </a:pPr>
            <a:r>
              <a:t>TECHNICAL APPROACH &amp; SYSTEM ARCHITECTURE</a:t>
            </a:r>
          </a:p>
        </p:txBody>
      </p:sp>
      <p:pic>
        <p:nvPicPr>
          <p:cNvPr id="4" name="Picture 3" descr="perfe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737360" cy="8852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6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                @SIH Idea submission- Template                                            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4864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123A8A"/>
                </a:solidFill>
              </a:defRPr>
            </a:pPr>
            <a:r>
              <a:t>Idea / System Architecture Flow: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512064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50">
                <a:solidFill>
                  <a:srgbClr val="123A8A"/>
                </a:solidFill>
              </a:defRPr>
            </a:pPr>
            <a:r>
              <a:t>1. Omnichannel Ingest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14566 SIP PRI lines, WebRTC mic, Chatbot API &amp; Mobile App SDK (8/16kHz PCM)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58568"/>
            <a:ext cx="512064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58568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50">
                <a:solidFill>
                  <a:srgbClr val="123A8A"/>
                </a:solidFill>
              </a:defRPr>
            </a:pPr>
            <a:r>
              <a:t>2. Multimodal Signal Extraction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Vocal acoustic prosody (pitch tremor Hz, jitter %, pause duration) + BERT fear valence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962656"/>
            <a:ext cx="512064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62656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50">
                <a:solidFill>
                  <a:srgbClr val="123A8A"/>
                </a:solidFill>
              </a:defRPr>
            </a:pPr>
            <a:r>
              <a:t>3. Dynamic Distress Scoring (0–100)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Continuous formula: DDS = 0.25E + 0.20V + 0.15B + 0.15H + 0.10C + 0.15T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66744"/>
            <a:ext cx="512064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66744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50">
                <a:solidFill>
                  <a:srgbClr val="123A8A"/>
                </a:solidFill>
              </a:defRPr>
            </a:pPr>
            <a:r>
              <a:t>4. 72h Crisis Forecast &amp; Explainable AI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Time-series trend velocity (dDDS/dt) predicts crisis 72h prior + SHAP point attributions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70831"/>
            <a:ext cx="512064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70831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50">
                <a:solidFill>
                  <a:srgbClr val="123A8A"/>
                </a:solidFill>
              </a:defRPr>
            </a:pPr>
            <a:r>
              <a:t>5. Automated 3-Tier Risk Action Dispatch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0–30: Self-help grounding audio | 31–60: Tele-counselling | 61–100: Emergency DM/SP 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097280"/>
            <a:ext cx="50749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14300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123A8A"/>
                </a:solidFill>
              </a:defRPr>
            </a:pPr>
            <a:r>
              <a:t>Technical Stack &amp; Security: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Speech &amp; Emotion DSP: </a:t>
            </a:r>
            <a:r>
              <a:rPr sz="950">
                <a:solidFill>
                  <a:srgbClr val="334155"/>
                </a:solidFill>
              </a:rPr>
              <a:t>Python (NumPy, SciPy, Librosa) 20ms frames, vocal tremor analysis.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AI / NLP &amp; Predictive Engine: </a:t>
            </a:r>
            <a:r>
              <a:rPr sz="950">
                <a:solidFill>
                  <a:srgbClr val="334155"/>
                </a:solidFill>
              </a:rPr>
              <a:t>Hugging Face Transformers BERT, velocity forecasting (dDDS/dt), XAI.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Telemetry &amp; Secure Ledger: </a:t>
            </a:r>
            <a:r>
              <a:rPr sz="950">
                <a:solidFill>
                  <a:srgbClr val="334155"/>
                </a:solidFill>
              </a:rPr>
              <a:t>FastAPI ASGI server, PostgreSQL, Redis cache, AES-256 GCM vault.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788920"/>
            <a:ext cx="507492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83464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23A8A"/>
                </a:solidFill>
              </a:defRPr>
            </a:pPr>
            <a:r>
              <a:t>Workflow Comparison Matrix: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92240" y="3200400"/>
          <a:ext cx="4892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169164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WORKFLOW FEATURE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CONVENTIONAL WORKFLOW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KEFI AI PLATFORM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Voice Triage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Manual assessment &amp; referral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✔ Proactive Care</a:t>
                      </a:r>
                      <a:br/>
                      <a:r>
                        <a:t>Scheduled check-ins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Multilingual &amp;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Varies by channel &amp;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✔ 22+ Languages</a:t>
                      </a:r>
                      <a:br/>
                      <a:r>
                        <a:t>Tanglish / Web / 14566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Triage Framework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No standardized composite index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✔ Mathematical DDS</a:t>
                      </a:r>
                      <a:br/>
                      <a:r>
                        <a:t>0–100 multi-signal metric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Emergency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Manual emergency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✔ 72h Early Warning</a:t>
                      </a:r>
                      <a:br/>
                      <a:r>
                        <a:t>Predictive velocity dDDS/dt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85800" y="5440680"/>
            <a:ext cx="3383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20ms Frame Acoustic DSP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Linear PCM stream ingestion, pitch &amp; vocal micro-tremor extraction.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5440680"/>
            <a:ext cx="3383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Mathematical DDS Architecture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DDS = 0.25E + 0.20V + 0.15B + 0.15H + 0.10C + 0.15T multi-signal.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5440680"/>
            <a:ext cx="3383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Multi-Agency Integration Layer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112/medical/protection/legal integrations demonstrated through prototype adapters.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noFill/>
          <a:ln w="19050">
            <a:solidFill>
              <a:srgbClr val="6B6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DEKO</a:t>
            </a:r>
          </a:p>
          <a:p>
            <a:pPr algn="ctr">
              <a:defRPr b="1" sz="1000">
                <a:solidFill>
                  <a:srgbClr val="2563EB"/>
                </a:solidFill>
              </a:defRPr>
            </a:pPr>
            <a:r>
              <a:t>Team 141444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23A8A"/>
                </a:solidFill>
              </a:defRPr>
            </a:pPr>
            <a:r>
              <a:t>FEASIBILITY AND VIABILITY ANALYSIS</a:t>
            </a:r>
          </a:p>
        </p:txBody>
      </p:sp>
      <p:pic>
        <p:nvPicPr>
          <p:cNvPr id="4" name="Picture 3" descr="perfe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737360" cy="8852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6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                @SIH Idea submission- Template                                                                          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30352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123A8A"/>
                </a:solidFill>
              </a:defRPr>
            </a:pPr>
            <a:r>
              <a:t>ANALYSIS OF THE FEASIBILITY: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Technical Feasibility: </a:t>
            </a:r>
            <a:r>
              <a:rPr sz="950">
                <a:solidFill>
                  <a:srgbClr val="334155"/>
                </a:solidFill>
              </a:rPr>
              <a:t>Prototype benchmarked with initial acoustic DSP &amp; NLP inference latency below 250ms.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Operational Feasibility: </a:t>
            </a:r>
            <a:r>
              <a:rPr sz="950">
                <a:solidFill>
                  <a:srgbClr val="334155"/>
                </a:solidFill>
              </a:rPr>
              <a:t>Seamless integration with MoSJE NHAA 14566 PRI lines, Web portal &amp; App.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Legal &amp; Ethical Feasibility: </a:t>
            </a:r>
            <a:r>
              <a:rPr sz="950">
                <a:solidFill>
                  <a:srgbClr val="334155"/>
                </a:solidFill>
              </a:rPr>
              <a:t>Aligned with SC/ST PoA Act 1989 (Sec 15A &amp; Rule 12(4)) and DPDP Act 2023.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300">
                <a:solidFill>
                  <a:srgbClr val="123A8A"/>
                </a:solidFill>
              </a:defRPr>
            </a:pPr>
            <a:r>
              <a:t>VIABILITY &amp; SCALABILITY: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Cost Viability: </a:t>
            </a:r>
            <a:r>
              <a:rPr sz="950">
                <a:solidFill>
                  <a:srgbClr val="334155"/>
                </a:solidFill>
              </a:rPr>
              <a:t>Projected prototype operating cost: &lt;₹0.15 per check-in; zero costly hardware required.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Reliability &amp; Scalability: </a:t>
            </a:r>
            <a:r>
              <a:rPr sz="950">
                <a:solidFill>
                  <a:srgbClr val="334155"/>
                </a:solidFill>
              </a:rPr>
              <a:t>High-availability cloud architecture with offline caching, Low Internet Mode &amp;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B91C1C"/>
                </a:solidFill>
              </a:rPr>
              <a:t>PROBLEM </a:t>
            </a:r>
            <a:r>
              <a:rPr b="1" sz="1400">
                <a:solidFill>
                  <a:srgbClr val="123A8A"/>
                </a:solidFill>
              </a:rPr>
              <a:t>VS </a:t>
            </a:r>
            <a:r>
              <a:rPr b="1" sz="1400">
                <a:solidFill>
                  <a:srgbClr val="15803D"/>
                </a:solidFill>
              </a:rPr>
              <a:t>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560320" cy="3840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B91C1C"/>
                </a:solidFill>
              </a:defRPr>
            </a:pPr>
            <a:r>
              <a:t>✖ PROBLEMS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B91C1C"/>
                </a:solidFill>
              </a:rPr>
              <a:t>• Subjective Triage: </a:t>
            </a:r>
            <a:r>
              <a:rPr sz="900">
                <a:solidFill>
                  <a:srgbClr val="B91C1C"/>
                </a:solidFill>
              </a:rPr>
              <a:t>Check-ins are irregular, subjective, and absent during legal delays.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B91C1C"/>
                </a:solidFill>
              </a:rPr>
              <a:t>• Delayed Detection: </a:t>
            </a:r>
            <a:r>
              <a:rPr sz="900">
                <a:solidFill>
                  <a:srgbClr val="B91C1C"/>
                </a:solidFill>
              </a:rPr>
              <a:t>Distress escalation goes unnoticed until acute harm occurs.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B91C1C"/>
                </a:solidFill>
              </a:rPr>
              <a:t>• Witness Threats: </a:t>
            </a:r>
            <a:r>
              <a:rPr sz="900">
                <a:solidFill>
                  <a:srgbClr val="B91C1C"/>
                </a:solidFill>
              </a:rPr>
              <a:t>Coercion goes undetected, causing witness hostility in court.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B91C1C"/>
                </a:solidFill>
              </a:rPr>
              <a:t>• Disconnected Logs: </a:t>
            </a:r>
            <a:r>
              <a:rPr sz="900">
                <a:solidFill>
                  <a:srgbClr val="B91C1C"/>
                </a:solidFill>
              </a:rPr>
              <a:t>Paper registers leave DM &amp; SP unaware of localized crisis trends.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B91C1C"/>
                </a:solidFill>
              </a:rPr>
              <a:t>• High Workload: </a:t>
            </a:r>
            <a:r>
              <a:rPr sz="900">
                <a:solidFill>
                  <a:srgbClr val="B91C1C"/>
                </a:solidFill>
              </a:rPr>
              <a:t>Manual welfare follow-up is impossible across thousands of cases.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371600"/>
            <a:ext cx="2560320" cy="3840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4630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5803D"/>
                </a:solidFill>
              </a:defRPr>
            </a:pPr>
            <a:r>
              <a:t>✔ SOLUTION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5803D"/>
                </a:solidFill>
              </a:rPr>
              <a:t>• Objective Scoring: </a:t>
            </a:r>
            <a:r>
              <a:rPr sz="900">
                <a:solidFill>
                  <a:srgbClr val="15803D"/>
                </a:solidFill>
              </a:rPr>
              <a:t>Automated continuous monitoring via mathematical DDS metric (0–100).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5803D"/>
                </a:solidFill>
              </a:rPr>
              <a:t>• 72h Early Warning: </a:t>
            </a:r>
            <a:r>
              <a:rPr sz="900">
                <a:solidFill>
                  <a:srgbClr val="15803D"/>
                </a:solidFill>
              </a:rPr>
              <a:t>Longitudinal velocity (dDDS/dt) alerts counsellors 72h prior to crisis.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5803D"/>
                </a:solidFill>
              </a:rPr>
              <a:t>• Threat Screening: </a:t>
            </a:r>
            <a:r>
              <a:rPr sz="900">
                <a:solidFill>
                  <a:srgbClr val="15803D"/>
                </a:solidFill>
              </a:rPr>
              <a:t>NLP flags coercion keywords ('dhamki', 'withdraw') for Sec 15A protection.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5803D"/>
                </a:solidFill>
              </a:rPr>
              <a:t>• Unified HUD: </a:t>
            </a:r>
            <a:r>
              <a:rPr sz="900">
                <a:solidFill>
                  <a:srgbClr val="15803D"/>
                </a:solidFill>
              </a:rPr>
              <a:t>Live map alerts DM, SP &amp; MoSJE to localized distress velocity spikes.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5803D"/>
                </a:solidFill>
              </a:rPr>
              <a:t>• 70%+ Overhead Cut: </a:t>
            </a:r>
            <a:r>
              <a:rPr sz="900">
                <a:solidFill>
                  <a:srgbClr val="15803D"/>
                </a:solidFill>
              </a:rPr>
              <a:t>Automated check-ins and AI triage free officers for high-risk care.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440680"/>
            <a:ext cx="3383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High-Availability Architecture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Tested prototype; sub-250ms median API latency; automated failover.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440680"/>
            <a:ext cx="3383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DPDP Act 2023 &amp; Rules 2025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SHA-256 tamper-evident audit ledger &amp; AES-256 GCM encrypted audio vault.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5440680"/>
            <a:ext cx="3383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Fail-Safe &amp; Low-Confidence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Deterministic P1 safety override + low-confidence human verification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noFill/>
          <a:ln w="19050">
            <a:solidFill>
              <a:srgbClr val="6B6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DEKO</a:t>
            </a:r>
          </a:p>
          <a:p>
            <a:pPr algn="ctr">
              <a:defRPr b="1" sz="1000">
                <a:solidFill>
                  <a:srgbClr val="2563EB"/>
                </a:solidFill>
              </a:defRPr>
            </a:pPr>
            <a:r>
              <a:t>Team 141444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23A8A"/>
                </a:solidFill>
              </a:defRPr>
            </a:pPr>
            <a:r>
              <a:t>IMPACT, BENEFITS &amp; EXPECTED OUTCOMES</a:t>
            </a:r>
          </a:p>
        </p:txBody>
      </p:sp>
      <p:pic>
        <p:nvPicPr>
          <p:cNvPr id="4" name="Picture 3" descr="perfe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737360" cy="8852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6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                @SIH Idea submission- Template                                                                        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30352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123A8A"/>
                </a:solidFill>
              </a:defRPr>
            </a:pPr>
            <a:r>
              <a:t>Key Impacts on Victims &amp; Institutions: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01. </a:t>
            </a:r>
            <a:r>
              <a:rPr b="1" sz="1000">
                <a:solidFill>
                  <a:srgbClr val="0F172A"/>
                </a:solidFill>
              </a:rPr>
              <a:t>72-Hour Suicide &amp; Crisis Prevention: </a:t>
            </a:r>
            <a:r>
              <a:rPr sz="950">
                <a:solidFill>
                  <a:srgbClr val="334155"/>
                </a:solidFill>
              </a:rPr>
              <a:t>Critical distress detected 72h prior, enabling timely tele-counselling &amp; Sec 15A protection.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02. </a:t>
            </a:r>
            <a:r>
              <a:rPr b="1" sz="1000">
                <a:solidFill>
                  <a:srgbClr val="0F172A"/>
                </a:solidFill>
              </a:rPr>
              <a:t>Single-Window Trauma Continuity: </a:t>
            </a:r>
            <a:r>
              <a:rPr sz="950">
                <a:solidFill>
                  <a:srgbClr val="334155"/>
                </a:solidFill>
              </a:rPr>
              <a:t>Victim recounts ordeal once; structured statutory dossier routed to all departments.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03. </a:t>
            </a:r>
            <a:r>
              <a:rPr b="1" sz="1000">
                <a:solidFill>
                  <a:srgbClr val="0F172A"/>
                </a:solidFill>
              </a:rPr>
              <a:t>Witness Protection &amp; Justice Trust: </a:t>
            </a:r>
            <a:r>
              <a:rPr sz="950">
                <a:solidFill>
                  <a:srgbClr val="334155"/>
                </a:solidFill>
              </a:rPr>
              <a:t>Real-time threat detection triggers Sec 15A protection, reducing hostile witness rates.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04. </a:t>
            </a:r>
            <a:r>
              <a:rPr b="1" sz="1000">
                <a:solidFill>
                  <a:srgbClr val="0F172A"/>
                </a:solidFill>
              </a:rPr>
              <a:t>Rule 12(4) Relief &amp; Rehab Tracking: </a:t>
            </a:r>
            <a:r>
              <a:rPr sz="950">
                <a:solidFill>
                  <a:srgbClr val="334155"/>
                </a:solidFill>
              </a:rPr>
              <a:t>Supports stage-wise relief, sanction and 7-day monitoring + welfare coordination.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05. </a:t>
            </a:r>
            <a:r>
              <a:rPr b="1" sz="1000">
                <a:solidFill>
                  <a:srgbClr val="0F172A"/>
                </a:solidFill>
              </a:rPr>
              <a:t>70%+ Administrative Overhead Cut: </a:t>
            </a:r>
            <a:r>
              <a:rPr sz="950">
                <a:solidFill>
                  <a:srgbClr val="334155"/>
                </a:solidFill>
              </a:rPr>
              <a:t>Automated check-ins and smart triage free officers for complex crisis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2578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23A8A"/>
                </a:solidFill>
              </a:defRPr>
            </a:pPr>
            <a:r>
              <a:t>PS Expected Outcomes Compliance Matrix: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554480"/>
          <a:ext cx="50749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651760"/>
                <a:gridCol w="960120"/>
              </a:tblGrid>
              <a:tr h="41910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PS EXPECTED OUTCOME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KEFI AI IMPLEMENTATION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23A8A"/>
                          </a:solidFill>
                        </a:defRPr>
                      </a:pPr>
                      <a:r>
                        <a:t>1. Early Identification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Automated scheduled check-ins via IVRS 14566, Chatbot, SMS &amp; Web portal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✔ Addressed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23A8A"/>
                          </a:solidFill>
                        </a:defRPr>
                      </a:pPr>
                      <a:r>
                        <a:t>2. Counselling &amp; Rehab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Mathematical formula DDS (0–100) combining 6 trauma signals &amp; delay factors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✔ Addressed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23A8A"/>
                          </a:solidFill>
                        </a:defRPr>
                      </a:pPr>
                      <a:r>
                        <a:t>3. Victim-Centric Redress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72-hour crisis velocity forecasting (dDDS/dt) predicting acute trauma before escalation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✔ Addressed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23A8A"/>
                          </a:solidFill>
                        </a:defRPr>
                      </a:pPr>
                      <a:r>
                        <a:t>4. Resource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3-Tier risk dispatch: DM/SP emergency alert, tele-counselling &amp; self-help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✔ Addressed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23A8A"/>
                          </a:solidFill>
                        </a:defRPr>
                      </a:pPr>
                      <a:r>
                        <a:t>5. Enhanced Responsiveness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DPDP Act 2023 compliance, AES-256 encryption, OTP consent &amp; audit trail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✔ Addressed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85800" y="4343400"/>
            <a:ext cx="2066543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343400"/>
            <a:ext cx="2066543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4407408"/>
            <a:ext cx="19568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123A8A"/>
                </a:solidFill>
              </a:defRPr>
            </a:pPr>
            <a:r>
              <a:t>Outcome 1: Tanglish Chatbot</a:t>
            </a:r>
          </a:p>
        </p:txBody>
      </p:sp>
      <p:pic>
        <p:nvPicPr>
          <p:cNvPr id="14" name="Picture 13" descr="photo_outcome1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681728"/>
            <a:ext cx="1956815" cy="14447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862071" y="4343400"/>
            <a:ext cx="2066543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62071" y="4343400"/>
            <a:ext cx="2066543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6935" y="4407408"/>
            <a:ext cx="19568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123A8A"/>
                </a:solidFill>
              </a:defRPr>
            </a:pPr>
            <a:r>
              <a:t>Outcome 2: Emotion Wheel</a:t>
            </a:r>
          </a:p>
        </p:txBody>
      </p:sp>
      <p:pic>
        <p:nvPicPr>
          <p:cNvPr id="18" name="Picture 17" descr="photo_outcome2_em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5" y="4681728"/>
            <a:ext cx="1956815" cy="144475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038342" y="4343400"/>
            <a:ext cx="2066543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8342" y="4343400"/>
            <a:ext cx="2066543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6" y="4407408"/>
            <a:ext cx="19568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123A8A"/>
                </a:solidFill>
              </a:defRPr>
            </a:pPr>
            <a:r>
              <a:t>Outcome 3: Calm Sanctuary</a:t>
            </a:r>
          </a:p>
        </p:txBody>
      </p:sp>
      <p:pic>
        <p:nvPicPr>
          <p:cNvPr id="22" name="Picture 21" descr="photo_outcome3_cal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206" y="4681728"/>
            <a:ext cx="1956815" cy="144475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214613" y="4343400"/>
            <a:ext cx="2066543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14613" y="4343400"/>
            <a:ext cx="2066543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77" y="4407408"/>
            <a:ext cx="19568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123A8A"/>
                </a:solidFill>
              </a:defRPr>
            </a:pPr>
            <a:r>
              <a:t>Outcome 4: 7-Day DDS Trend</a:t>
            </a:r>
          </a:p>
        </p:txBody>
      </p:sp>
      <p:pic>
        <p:nvPicPr>
          <p:cNvPr id="26" name="Picture 25" descr="photo_outcome4_progr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77" y="4681728"/>
            <a:ext cx="1956815" cy="144475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390884" y="4343400"/>
            <a:ext cx="2066543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90884" y="4343400"/>
            <a:ext cx="2066543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5748" y="4407408"/>
            <a:ext cx="19568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123A8A"/>
                </a:solidFill>
              </a:defRPr>
            </a:pPr>
            <a:r>
              <a:t>Outcome 5: Officer HUD</a:t>
            </a:r>
          </a:p>
        </p:txBody>
      </p:sp>
      <p:pic>
        <p:nvPicPr>
          <p:cNvPr id="30" name="Picture 29" descr="photo_outcome5_offic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5748" y="4681728"/>
            <a:ext cx="1956815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463040" cy="731520"/>
          </a:xfrm>
          <a:prstGeom prst="ellipse">
            <a:avLst/>
          </a:prstGeom>
          <a:noFill/>
          <a:ln w="19050">
            <a:solidFill>
              <a:srgbClr val="6B6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DEKO</a:t>
            </a:r>
          </a:p>
          <a:p>
            <a:pPr algn="ctr">
              <a:defRPr b="1" sz="1000">
                <a:solidFill>
                  <a:srgbClr val="2563EB"/>
                </a:solidFill>
              </a:defRPr>
            </a:pPr>
            <a:r>
              <a:t>Team 141444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23A8A"/>
                </a:solidFill>
              </a:defRPr>
            </a:pPr>
            <a:r>
              <a:t>RESEARCH, REFERENCES &amp; TEAM DETAILS</a:t>
            </a:r>
          </a:p>
        </p:txBody>
      </p:sp>
      <p:pic>
        <p:nvPicPr>
          <p:cNvPr id="4" name="Picture 3" descr="perfe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737360" cy="8852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6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                @SIH Idea submission- Template                                                                              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30352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123A8A"/>
                </a:solidFill>
              </a:defRPr>
            </a:pPr>
            <a:r>
              <a:t>Statutory Acts &amp; Policy References: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Scheduled Castes &amp; Scheduled Tribes (PoA) Act, 1989: </a:t>
            </a:r>
            <a:r>
              <a:rPr sz="900">
                <a:solidFill>
                  <a:srgbClr val="334155"/>
                </a:solidFill>
              </a:rPr>
              <a:t>Section 15A &amp; Section 18A.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SC &amp; ST (PoA) Rules, 1995: </a:t>
            </a:r>
            <a:r>
              <a:rPr sz="900">
                <a:solidFill>
                  <a:srgbClr val="334155"/>
                </a:solidFill>
              </a:rPr>
              <a:t>Rule 12(4) — Relief and Rehabilitation statutory framework.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Digital Personal Data Protection: </a:t>
            </a:r>
            <a:r>
              <a:rPr sz="900">
                <a:solidFill>
                  <a:srgbClr val="334155"/>
                </a:solidFill>
              </a:rPr>
              <a:t>DPDP Act, 2023 and DPDP Rules, 2025 for data consent.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National Helpline Integration: </a:t>
            </a:r>
            <a:r>
              <a:rPr sz="900">
                <a:solidFill>
                  <a:srgbClr val="334155"/>
                </a:solidFill>
              </a:rPr>
              <a:t>MoSJE National Helpline Against Atrocities (NHAA 14566).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2578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123A8A"/>
                </a:solidFill>
              </a:defRPr>
            </a:pPr>
            <a:r>
              <a:t>Scientific Research &amp; AI Citations: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Acoustic Emotion Prosody: </a:t>
            </a:r>
            <a:r>
              <a:rPr sz="900">
                <a:solidFill>
                  <a:srgbClr val="334155"/>
                </a:solidFill>
              </a:rPr>
              <a:t>Scherer, K. R. (2003). Vocal communication of emotion.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Voice Tremor &amp; Distress: </a:t>
            </a:r>
            <a:r>
              <a:rPr sz="900">
                <a:solidFill>
                  <a:srgbClr val="334155"/>
                </a:solidFill>
              </a:rPr>
              <a:t>Mendoza, J. et al. (2019). Acoustic biomarkers of PTSD. IEEE TAC.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Explainable AI (XAI): </a:t>
            </a:r>
            <a:r>
              <a:rPr sz="900">
                <a:solidFill>
                  <a:srgbClr val="334155"/>
                </a:solidFill>
              </a:rPr>
              <a:t>Lundberg, S. M. &amp; Lee, S.-I. (2017). Unified SHAP approach. NeurIPS.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Clinical Trauma Criteria: </a:t>
            </a:r>
            <a:r>
              <a:rPr sz="900">
                <a:solidFill>
                  <a:srgbClr val="334155"/>
                </a:solidFill>
              </a:rPr>
              <a:t>American Psychological Association (APA) - DSM-5 PTSD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54680"/>
            <a:ext cx="107899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23A8A"/>
                </a:solidFill>
              </a:defRPr>
            </a:pPr>
            <a:r>
              <a:t>TEAM DEKO (TEAM ID: 141444) — UNIVERSITY COLLEGE OF ENGINEERING, PANRUTI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" y="356616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005840"/>
                <a:gridCol w="1097280"/>
                <a:gridCol w="5303520"/>
              </a:tblGrid>
              <a:tr h="352697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STREAM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PROJECT ROLE &amp; KEY RESPONSIBILITY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BALAJI P (Team Leader)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IV Year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System Architect, Dynamic Distress Scoring (DDS) &amp; Predictive Engine Lead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NAVANEETHAM 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IV Year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Multilingual Tanglish NLP, Bhashini ASR &amp; Emotion Wheel Architecture Lead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MALINI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IV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Full-Stack Web Portal, Calm Space &amp; Silent Sanctuary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DHAVAN R 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IV Year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DM/SP Dashboard, Automated Alert Matrix &amp; Incident Dispatch Lead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DEEBIKA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II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Cloud Security, AES-256 GCM Audio Vault &amp; DPDP Rules 2025 Compliance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DHARA 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B.E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II Year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Rule 12(4) Relief Tracking, IVRS 14566 Integration &amp; Citizen Portal UI Lead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