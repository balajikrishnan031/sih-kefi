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377440" cy="320040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t>SLIDE 1: CLINICAL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0F0F"/>
                </a:solidFill>
                <a:latin typeface="Times New Roman"/>
              </a:defRPr>
            </a:pPr>
            <a:r>
              <a:t>PROBLEM STATEMENT &amp; SCIENTIFIC RESEARCH EVIDENCE</a:t>
            </a:r>
          </a:p>
          <a:p>
            <a:pPr>
              <a:defRPr sz="1000">
                <a:solidFill>
                  <a:srgbClr val="5A5A5A"/>
                </a:solidFill>
                <a:latin typeface="Times New Roman"/>
              </a:defRPr>
            </a:pPr>
            <a:r>
              <a:t>Global Mental Health Crisis &amp; Failure of Standard Digital Wellness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274320"/>
            <a:ext cx="3322015" cy="685800"/>
          </a:xfrm>
          <a:prstGeom prst="round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PRESENTED BY: BALAJI P</a:t>
            </a:r>
          </a:p>
          <a:p>
            <a:pPr algn="ctr">
              <a:defRPr sz="900">
                <a:solidFill>
                  <a:srgbClr val="DCDCDC"/>
                </a:solidFill>
                <a:latin typeface="Times New Roman"/>
              </a:defRPr>
            </a:pPr>
            <a:r>
              <a:t>Team Leader | Dept. of CSE | UCE Anna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2D7D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0F0F0F"/>
                </a:solidFill>
                <a:latin typeface="Times New Roman"/>
              </a:defRPr>
            </a:pPr>
            <a:r>
              <a:t>[CORE PROBLEM STATEMENT]</a:t>
            </a:r>
          </a:p>
          <a:p>
            <a:pPr>
              <a:defRPr sz="1050">
                <a:solidFill>
                  <a:srgbClr val="232323"/>
                </a:solidFill>
                <a:latin typeface="Times New Roman"/>
              </a:defRPr>
            </a:pPr>
            <a:r>
              <a:t>Traditional psychiatric care and generic wellness chatbots suffer from 3 interconnected clinical failures that hinder long-term patient recovery:</a:t>
            </a:r>
          </a:p>
          <a:p>
            <a:pPr>
              <a:spcBef>
                <a:spcPts val="800"/>
              </a:spcBef>
              <a:defRPr sz="1100" b="1">
                <a:solidFill>
                  <a:srgbClr val="0F0F0F"/>
                </a:solidFill>
                <a:latin typeface="Times New Roman"/>
              </a:defRPr>
            </a:pPr>
            <a:r>
              <a:t>• 1. Incomplete Symptom Remission (50-60% Failure)</a:t>
            </a:r>
          </a:p>
          <a:p>
            <a:pPr>
              <a:defRPr sz="1000">
                <a:solidFill>
                  <a:srgbClr val="232323"/>
                </a:solidFill>
                <a:latin typeface="Times New Roman"/>
              </a:defRPr>
            </a:pPr>
            <a:r>
              <a:t>Standard psychiatric therapy is episodic (once a week). Patients suffer silently between appointments without real-time tracking, leaving symptoms unaddressed.</a:t>
            </a:r>
          </a:p>
          <a:p>
            <a:pPr>
              <a:spcBef>
                <a:spcPts val="800"/>
              </a:spcBef>
              <a:defRPr sz="1100" b="1">
                <a:solidFill>
                  <a:srgbClr val="0F0F0F"/>
                </a:solidFill>
                <a:latin typeface="Times New Roman"/>
              </a:defRPr>
            </a:pPr>
            <a:r>
              <a:t>• 2. High Treatment Attrition Rate (up to 70% Dropout)</a:t>
            </a:r>
          </a:p>
          <a:p>
            <a:pPr>
              <a:defRPr sz="1000">
                <a:solidFill>
                  <a:srgbClr val="232323"/>
                </a:solidFill>
                <a:latin typeface="Times New Roman"/>
              </a:defRPr>
            </a:pPr>
            <a:r>
              <a:t>70% of digital mental health app users abandon care within 30 days due to social stigma, high costs, lack of progress metrics, and impersonal responses.</a:t>
            </a:r>
          </a:p>
          <a:p>
            <a:pPr>
              <a:spcBef>
                <a:spcPts val="800"/>
              </a:spcBef>
              <a:defRPr sz="1100" b="1">
                <a:solidFill>
                  <a:srgbClr val="0F0F0F"/>
                </a:solidFill>
                <a:latin typeface="Times New Roman"/>
              </a:defRPr>
            </a:pPr>
            <a:r>
              <a:t>• 3. Loss to Follow-Up &amp; Severe Relapse Risk</a:t>
            </a:r>
          </a:p>
          <a:p>
            <a:pPr>
              <a:defRPr sz="1000">
                <a:solidFill>
                  <a:srgbClr val="232323"/>
                </a:solidFill>
                <a:latin typeface="Times New Roman"/>
              </a:defRPr>
            </a:pPr>
            <a:r>
              <a:t>Clinicians cannot monitor patients 24/7. Undetected emotional distress escalates rapidly into acute psychiatric emergencies without early interventions.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42255" cy="2423160"/>
          </a:xfrm>
          <a:prstGeom prst="round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[GLOBAL &amp; NATIONAL SCALE DATA]</a:t>
            </a:r>
          </a:p>
          <a:p>
            <a:pPr>
              <a:spcBef>
                <a:spcPts val="400"/>
              </a:spcBef>
              <a:defRPr sz="1000">
                <a:solidFill>
                  <a:srgbClr val="E6E6E6"/>
                </a:solidFill>
                <a:latin typeface="Times New Roman"/>
              </a:defRPr>
            </a:pPr>
            <a:r>
              <a:t>▪ WHO Global Burden: 280 Million+ people suffer from depression globally (~5% of adults). Suicide is the 4th leading cause of death in youth aged 15-29.</a:t>
            </a:r>
          </a:p>
          <a:p>
            <a:pPr>
              <a:spcBef>
                <a:spcPts val="400"/>
              </a:spcBef>
              <a:defRPr sz="1000">
                <a:solidFill>
                  <a:srgbClr val="E6E6E6"/>
                </a:solidFill>
                <a:latin typeface="Times New Roman"/>
              </a:defRPr>
            </a:pPr>
            <a:r>
              <a:t>▪ NMHS India Treatment Gap: 1 in 7 Indians suffer from mental health conditions with an 80-90% Treatment Gap (only 0.75 psychiatrists per 100,000 people).</a:t>
            </a:r>
          </a:p>
          <a:p>
            <a:pPr>
              <a:spcBef>
                <a:spcPts val="400"/>
              </a:spcBef>
              <a:defRPr sz="1000">
                <a:solidFill>
                  <a:srgbClr val="E6E6E6"/>
                </a:solidFill>
                <a:latin typeface="Times New Roman"/>
              </a:defRPr>
            </a:pPr>
            <a:r>
              <a:t>▪ Standard Chatbot Abandonment: 73-84% of wellness app users quit after 2-3 sessions due to canned responses and zero biometric or long-term clinical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42255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00" b="1">
                <a:solidFill>
                  <a:srgbClr val="0F0F0F"/>
                </a:solidFill>
                <a:latin typeface="Times New Roman"/>
              </a:defRPr>
            </a:pPr>
            <a:r>
              <a:t>[SCIENTIFIC RESEARCH CITATIONS &amp; CLINICAL EVIDENCE]</a:t>
            </a:r>
          </a:p>
          <a:p>
            <a:pPr>
              <a:spcBef>
                <a:spcPts val="300"/>
              </a:spcBef>
              <a:defRPr sz="980">
                <a:solidFill>
                  <a:srgbClr val="232323"/>
                </a:solidFill>
                <a:latin typeface="Times New Roman"/>
              </a:defRPr>
            </a:pPr>
            <a:r>
              <a:t>✔ Hofmann et al. (2012) - CBT Meta-Analysis: CBT delivers 50-75% symptom reduction; requires consistent daily practice between visits.</a:t>
            </a:r>
          </a:p>
          <a:p>
            <a:pPr>
              <a:spcBef>
                <a:spcPts val="300"/>
              </a:spcBef>
              <a:defRPr sz="980">
                <a:solidFill>
                  <a:srgbClr val="232323"/>
                </a:solidFill>
                <a:latin typeface="Times New Roman"/>
              </a:defRPr>
            </a:pPr>
            <a:r>
              <a:t>✔ Norcross &amp; Wampold (2011) - Therapeutic Alliance: Empathy &amp; validation account for 30% of overall psychiatric clinical success.</a:t>
            </a:r>
          </a:p>
          <a:p>
            <a:pPr>
              <a:spcBef>
                <a:spcPts val="300"/>
              </a:spcBef>
              <a:defRPr sz="980">
                <a:solidFill>
                  <a:srgbClr val="232323"/>
                </a:solidFill>
                <a:latin typeface="Times New Roman"/>
              </a:defRPr>
            </a:pPr>
            <a:r>
              <a:t>✔ Fitzpatrick et al. (2017) - Woebot Clinical RCT: Automated conversational CBT achieved 22% depression reduction in 2 weeks.</a:t>
            </a:r>
          </a:p>
          <a:p>
            <a:pPr>
              <a:spcBef>
                <a:spcPts val="300"/>
              </a:spcBef>
              <a:defRPr sz="980">
                <a:solidFill>
                  <a:srgbClr val="232323"/>
                </a:solidFill>
                <a:latin typeface="Times New Roman"/>
              </a:defRPr>
            </a:pPr>
            <a:r>
              <a:t>✔ Hayes et al. (2006) - ACT &amp; MBSR Grounding: Somatic vagus nerve grounding reduces acute panic symptoms by 45-50% instantly.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5A5A5A"/>
                </a:solidFill>
                <a:latin typeface="Times New Roman"/>
              </a:defRPr>
            </a:pPr>
            <a:r>
              <a:t>KEFFI AI | Clinical Digital Therapeutics Platform | PRESENTED BY: BALAJI P (Team Leader, CSE, UCE Anna University BIT Campus)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377440" cy="320040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t>SLIDE 2: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0F0F"/>
                </a:solidFill>
                <a:latin typeface="Times New Roman"/>
              </a:defRPr>
            </a:pPr>
            <a:r>
              <a:t>SYSTEM ARCHITECTURE &amp; LAYER-BY-LAYER ENGINE</a:t>
            </a:r>
          </a:p>
          <a:p>
            <a:pPr>
              <a:defRPr sz="1000">
                <a:solidFill>
                  <a:srgbClr val="5A5A5A"/>
                </a:solidFill>
                <a:latin typeface="Times New Roman"/>
              </a:defRPr>
            </a:pPr>
            <a:r>
              <a:t>End-to-End Multimodal Intelligence Pipeline &amp; Database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274320"/>
            <a:ext cx="3322015" cy="685800"/>
          </a:xfrm>
          <a:prstGeom prst="round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PRESENTED BY: BALAJI P</a:t>
            </a:r>
          </a:p>
          <a:p>
            <a:pPr algn="ctr">
              <a:defRPr sz="900">
                <a:solidFill>
                  <a:srgbClr val="DCDCDC"/>
                </a:solidFill>
                <a:latin typeface="Times New Roman"/>
              </a:defRPr>
            </a:pPr>
            <a:r>
              <a:t>Team Leader | Dept. of CSE | UCE Anna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2D7D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993392" cy="6858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1. TOUCHPOINT</a:t>
            </a:r>
          </a:p>
          <a:p>
            <a:pPr algn="ctr">
              <a:defRPr sz="900">
                <a:solidFill>
                  <a:srgbClr val="5A5A5A"/>
                </a:solidFill>
                <a:latin typeface="Times New Roman"/>
              </a:defRPr>
            </a:pPr>
            <a:r>
              <a:t>React + ESP32 PPG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188720"/>
            <a:ext cx="1993392" cy="6858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2. GATEWAY</a:t>
            </a:r>
          </a:p>
          <a:p>
            <a:pPr algn="ctr">
              <a:defRPr sz="900">
                <a:solidFill>
                  <a:srgbClr val="5A5A5A"/>
                </a:solidFill>
                <a:latin typeface="Times New Roman"/>
              </a:defRPr>
            </a:pPr>
            <a:r>
              <a:t>FastAPI &amp; Slang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188720"/>
            <a:ext cx="1993392" cy="685800"/>
          </a:xfrm>
          <a:prstGeom prst="roundRect">
            <a:avLst/>
          </a:prstGeom>
          <a:solidFill>
            <a:srgbClr val="0F0F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t>3. AI ENGINE</a:t>
            </a:r>
          </a:p>
          <a:p>
            <a:pPr algn="ctr">
              <a:defRPr sz="900">
                <a:solidFill>
                  <a:srgbClr val="DCDCDC"/>
                </a:solidFill>
                <a:latin typeface="Times New Roman"/>
              </a:defRPr>
            </a:pPr>
            <a:r>
              <a:t>BERT 96 &amp; Groq 70B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188720"/>
            <a:ext cx="1993392" cy="6858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4. DATABASE</a:t>
            </a:r>
          </a:p>
          <a:p>
            <a:pPr algn="ctr">
              <a:defRPr sz="900">
                <a:solidFill>
                  <a:srgbClr val="5A5A5A"/>
                </a:solidFill>
                <a:latin typeface="Times New Roman"/>
              </a:defRPr>
            </a:pPr>
            <a:r>
              <a:t>SQLite WAL &amp; 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188720"/>
            <a:ext cx="1993392" cy="6858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5. SAFETY</a:t>
            </a:r>
          </a:p>
          <a:p>
            <a:pPr algn="ctr">
              <a:defRPr sz="900">
                <a:solidFill>
                  <a:srgbClr val="5A5A5A"/>
                </a:solidFill>
                <a:latin typeface="Times New Roman"/>
              </a:defRPr>
            </a:pPr>
            <a:r>
              <a:t>n8n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6217920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0F0F0F"/>
                </a:solidFill>
                <a:latin typeface="Times New Roman"/>
              </a:defRPr>
            </a:pPr>
            <a:r>
              <a:t>[DETAILED LAYER-BY-LAYER ARCHITECTURE BREAKDOWN]</a:t>
            </a:r>
          </a:p>
          <a:p>
            <a:pPr>
              <a:spcBef>
                <a:spcPts val="400"/>
              </a:spcBef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▪ Layer 1: Frontend &amp; Touchpoint</a:t>
            </a:r>
          </a:p>
          <a:p>
            <a:pPr>
              <a:defRPr sz="950">
                <a:solidFill>
                  <a:srgbClr val="232323"/>
                </a:solidFill>
                <a:latin typeface="Times New Roman"/>
              </a:defRPr>
            </a:pPr>
            <a:r>
              <a:t>React + Vite Glassmorphic UI. Captures text, voice prosody (Pitch Hz, Speech Rate WPM, Pause Gaps), and ESP32 PPG Biofeedback (Heart Rate BPM, HRV ms).</a:t>
            </a:r>
          </a:p>
          <a:p>
            <a:pPr>
              <a:spcBef>
                <a:spcPts val="400"/>
              </a:spcBef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▪ Layer 2: Gateway &amp; Slang Router</a:t>
            </a:r>
          </a:p>
          <a:p>
            <a:pPr>
              <a:defRPr sz="950">
                <a:solidFill>
                  <a:srgbClr val="232323"/>
                </a:solidFill>
                <a:latin typeface="Times New Roman"/>
              </a:defRPr>
            </a:pPr>
            <a:r>
              <a:t>FastAPI async microservices (main.py) + Cosine Vector Slang Router (semantic_router.py) mapping Tanglish (e.g. 'kaduppa irukku' -&gt; Frustration).</a:t>
            </a:r>
          </a:p>
          <a:p>
            <a:pPr>
              <a:spcBef>
                <a:spcPts val="400"/>
              </a:spcBef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▪ Layer 3: AI &amp; Cognitive Engine</a:t>
            </a:r>
          </a:p>
          <a:p>
            <a:pPr>
              <a:defRPr sz="950">
                <a:solidFill>
                  <a:srgbClr val="232323"/>
                </a:solidFill>
                <a:latin typeface="Times New Roman"/>
              </a:defRPr>
            </a:pPr>
            <a:r>
              <a:t>Fine-tuned BERT 96-Emotion Model + Groq Llama-3 70B &amp; Ollama (Modelfile_Keffi) + SHAP/LIME Explainable AI Engine mapping tokens to DSM-5 PHQ-9 criteria.</a:t>
            </a:r>
          </a:p>
          <a:p>
            <a:pPr>
              <a:spcBef>
                <a:spcPts val="400"/>
              </a:spcBef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▪ Layer 4: Relational DB &amp; Vector Store</a:t>
            </a:r>
          </a:p>
          <a:p>
            <a:pPr>
              <a:defRPr sz="950">
                <a:solidFill>
                  <a:srgbClr val="232323"/>
                </a:solidFill>
                <a:latin typeface="Times New Roman"/>
              </a:defRPr>
            </a:pPr>
            <a:r>
              <a:t>High-performance SQLite WAL Mode (clinical_db.py) + Pinecone Semantic Memory Store for long-term patient trajectory tracking.</a:t>
            </a:r>
          </a:p>
          <a:p>
            <a:pPr>
              <a:spcBef>
                <a:spcPts val="400"/>
              </a:spcBef>
              <a:defRPr sz="1050" b="1">
                <a:solidFill>
                  <a:srgbClr val="0F0F0F"/>
                </a:solidFill>
                <a:latin typeface="Times New Roman"/>
              </a:defRPr>
            </a:pPr>
            <a:r>
              <a:t>▪ Layer 5: Safety &amp; Automation</a:t>
            </a:r>
          </a:p>
          <a:p>
            <a:pPr>
              <a:defRPr sz="950">
                <a:solidFill>
                  <a:srgbClr val="232323"/>
                </a:solidFill>
                <a:latin typeface="Times New Roman"/>
              </a:defRPr>
            </a:pPr>
            <a:r>
              <a:t>n8n workflow automation (n8n_workflows) executing emergency hotline cards, SMS therapist alerts, and acoustic sanctuary breathing sync.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011680"/>
            <a:ext cx="4327855" cy="2468880"/>
          </a:xfrm>
          <a:prstGeom prst="round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[7 CORE CLINICAL DATABASE TABLES]</a:t>
            </a:r>
          </a:p>
          <a:p>
            <a:pPr>
              <a:spcBef>
                <a:spcPts val="200"/>
              </a:spcBef>
              <a:defRPr sz="900">
                <a:solidFill>
                  <a:srgbClr val="E6E6E6"/>
                </a:solidFill>
                <a:latin typeface="Times New Roman"/>
              </a:defRPr>
            </a:pPr>
            <a:r>
              <a:t>• 1. patients: MHQ Score (0-100), Baseline Severity, Attrition Risk.</a:t>
            </a:r>
          </a:p>
          <a:p>
            <a:pPr>
              <a:spcBef>
                <a:spcPts val="200"/>
              </a:spcBef>
              <a:defRPr sz="900">
                <a:solidFill>
                  <a:srgbClr val="E6E6E6"/>
                </a:solidFill>
                <a:latin typeface="Times New Roman"/>
              </a:defRPr>
            </a:pPr>
            <a:r>
              <a:t>• 2. chat_messages: BERT Emotion, Clinical State, MHQ Delta, SOS Flag.</a:t>
            </a:r>
          </a:p>
          <a:p>
            <a:pPr>
              <a:spcBef>
                <a:spcPts val="200"/>
              </a:spcBef>
              <a:defRPr sz="900">
                <a:solidFill>
                  <a:srgbClr val="E6E6E6"/>
                </a:solidFill>
                <a:latin typeface="Times New Roman"/>
              </a:defRPr>
            </a:pPr>
            <a:r>
              <a:t>• 3. mood_checkins: Daily 1-5 Emoji sentiment logs &amp; mood trend.</a:t>
            </a:r>
          </a:p>
          <a:p>
            <a:pPr>
              <a:spcBef>
                <a:spcPts val="200"/>
              </a:spcBef>
              <a:defRPr sz="900">
                <a:solidFill>
                  <a:srgbClr val="E6E6E6"/>
                </a:solidFill>
                <a:latin typeface="Times New Roman"/>
              </a:defRPr>
            </a:pPr>
            <a:r>
              <a:t>• 4. cognitive_distortion_logs: CBT distortion types &amp; Reframed thoughts.</a:t>
            </a:r>
          </a:p>
          <a:p>
            <a:pPr>
              <a:spcBef>
                <a:spcPts val="200"/>
              </a:spcBef>
              <a:defRPr sz="900">
                <a:solidFill>
                  <a:srgbClr val="E6E6E6"/>
                </a:solidFill>
                <a:latin typeface="Times New Roman"/>
              </a:defRPr>
            </a:pPr>
            <a:r>
              <a:t>• 5. biometric_telemetry_logs: ESP32 Heart Rate BPM, HRV ms, Panic Flags.</a:t>
            </a:r>
          </a:p>
          <a:p>
            <a:pPr>
              <a:spcBef>
                <a:spcPts val="200"/>
              </a:spcBef>
              <a:defRPr sz="900">
                <a:solidFill>
                  <a:srgbClr val="E6E6E6"/>
                </a:solidFill>
                <a:latin typeface="Times New Roman"/>
              </a:defRPr>
            </a:pPr>
            <a:r>
              <a:t>• 6. voice_prosody_logs: Pitch Hz, Speech Rate WPM, Pause Gaps.</a:t>
            </a:r>
          </a:p>
          <a:p>
            <a:pPr>
              <a:spcBef>
                <a:spcPts val="200"/>
              </a:spcBef>
              <a:defRPr sz="900">
                <a:solidFill>
                  <a:srgbClr val="E6E6E6"/>
                </a:solidFill>
                <a:latin typeface="Times New Roman"/>
              </a:defRPr>
            </a:pPr>
            <a:r>
              <a:t>• 7. explainable_ai_logs: SHAP top feature JSON attributions for audit.</a:t>
            </a:r>
          </a:p>
        </p:txBody>
      </p:sp>
      <p:pic>
        <p:nvPicPr>
          <p:cNvPr id="13" name="Picture 12" descr="shot_3_landing_tech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572000"/>
            <a:ext cx="4327855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5A5A5A"/>
                </a:solidFill>
                <a:latin typeface="Times New Roman"/>
              </a:defRPr>
            </a:pPr>
            <a:r>
              <a:t>KEFFI AI | Clinical Digital Therapeutics Platform | PRESENTED BY: BALAJI P (Team Leader, CSE, UCE Anna University BIT Campus)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377440" cy="320040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FFFFFF"/>
                </a:solidFill>
                <a:latin typeface="Times New Roman"/>
              </a:defRPr>
            </a:pPr>
            <a:r>
              <a:t>SLIDE 3: METHODOLOGY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0F0F"/>
                </a:solidFill>
                <a:latin typeface="Times New Roman"/>
              </a:defRPr>
            </a:pPr>
            <a:r>
              <a:t>CLINICAL SOLUTION &amp; 10 PSYCHOTHERAPEUTIC METHODOLOGIES</a:t>
            </a:r>
          </a:p>
          <a:p>
            <a:pPr>
              <a:defRPr sz="1000">
                <a:solidFill>
                  <a:srgbClr val="5A5A5A"/>
                </a:solidFill>
                <a:latin typeface="Times New Roman"/>
              </a:defRPr>
            </a:pPr>
            <a:r>
              <a:t>10 Evidence-Based Therapeutic Protocols &amp; Complete System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274320"/>
            <a:ext cx="3322015" cy="685800"/>
          </a:xfrm>
          <a:prstGeom prst="round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PRESENTED BY: BALAJI P</a:t>
            </a:r>
          </a:p>
          <a:p>
            <a:pPr algn="ctr">
              <a:defRPr sz="900">
                <a:solidFill>
                  <a:srgbClr val="DCDCDC"/>
                </a:solidFill>
                <a:latin typeface="Times New Roman"/>
              </a:defRPr>
            </a:pPr>
            <a:r>
              <a:t>Team Leader | Dept. of CSE | UCE Anna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D2D7D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1051560"/>
          </a:xfrm>
          <a:prstGeom prst="round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[THE KEFFI AI CLINICAL SOLUTION]</a:t>
            </a:r>
          </a:p>
          <a:p>
            <a:pPr>
              <a:spcBef>
                <a:spcPts val="300"/>
              </a:spcBef>
              <a:defRPr sz="1000">
                <a:solidFill>
                  <a:srgbClr val="E6E6E6"/>
                </a:solidFill>
                <a:latin typeface="Times New Roman"/>
              </a:defRPr>
            </a:pPr>
            <a:r>
              <a:t>1. 24/7 Bio-Behavioral Companion (bridges episodic gaps) | 2. Biofeedback-Synced Panic Reduction (ESP32 PPG + 4-7-8 Breathing + Sanctuary Audio) | 3. Predictive Attrition Prevention (MHQ trajectory scoring) | 4. Zero-Stigma Privacy-First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6858000" cy="3977639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150" b="1">
                <a:solidFill>
                  <a:srgbClr val="0F0F0F"/>
                </a:solidFill>
                <a:latin typeface="Times New Roman"/>
              </a:defRPr>
            </a:pPr>
            <a:r>
              <a:t>[THE 10 PSYCHOTHERAPEUTIC METHODOLOGIES MATRIX]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1. CBT (Cognitive Behavioral Therapy): Identifies 10 cognitive distortions (catastrophizing) and reframes thoughts.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2. DBT (Dialectical Behavior Therapy): Applies TIPP crisis skills (Temperature, Paced breathing) for explosive rage/urges.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3. ACT (Acceptance &amp; Commitment): Cognitive defusion: treats intrusive thoughts as passing clouds in the sky.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4. Somatic Grounding &amp; MBSR: Vagus nerve activation via 4-7-8 rhythm breathing &amp; 5-4-3-2-1 sensory grounding.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5. Rogerian Validation: Provides non-judgmental active listening, warm validation &amp; emotional mirroring.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6. Double-Standard Technique: Challenges self-criticism: asks what user would say to a close friend in same state.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7. Micro-Behavioral Activation: Breaks depressive bed-locking through 30-second physical tasks (e.g. sip of water).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8. Behavioral Experiment &amp; Exposure: De-catastrophizes social anxiety by testing feared outcomes in safe micro-trials.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9. Compassion-Focused Therapy (CFT): Activates soothing system via self-soothing touch (hand over heart) &amp; warm self-talk.</a:t>
            </a:r>
          </a:p>
          <a:p>
            <a:pPr>
              <a:spcBef>
                <a:spcPts val="200"/>
              </a:spcBef>
              <a:defRPr sz="919">
                <a:solidFill>
                  <a:srgbClr val="232323"/>
                </a:solidFill>
                <a:latin typeface="Times New Roman"/>
              </a:defRPr>
            </a:pPr>
            <a:r>
              <a:t>✔ 10. Problem-Solving Therapy (PST): Deconstructs massive workload overwhelm into 3 bite-sized prioritized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331720"/>
            <a:ext cx="3687775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64592"/>
          <a:lstStyle/>
          <a:p>
            <a:pPr algn="ctr">
              <a:defRPr sz="1100" b="1">
                <a:solidFill>
                  <a:srgbClr val="0F0F0F"/>
                </a:solidFill>
                <a:latin typeface="Times New Roman"/>
              </a:defRPr>
            </a:pPr>
            <a:r>
              <a:t>[FULL SYSTEM TECH STACK]</a:t>
            </a:r>
          </a:p>
          <a:p>
            <a:pPr>
              <a:spcBef>
                <a:spcPts val="200"/>
              </a:spcBef>
              <a:defRPr sz="880">
                <a:solidFill>
                  <a:srgbClr val="232323"/>
                </a:solidFill>
                <a:latin typeface="Times New Roman"/>
              </a:defRPr>
            </a:pPr>
            <a:r>
              <a:t>▪ Frontend Canvas: React, Vite, Glassmorphic CSS, WebAudio API.</a:t>
            </a:r>
          </a:p>
          <a:p>
            <a:pPr>
              <a:spcBef>
                <a:spcPts val="200"/>
              </a:spcBef>
              <a:defRPr sz="880">
                <a:solidFill>
                  <a:srgbClr val="232323"/>
                </a:solidFill>
                <a:latin typeface="Times New Roman"/>
              </a:defRPr>
            </a:pPr>
            <a:r>
              <a:t>▪ Backend Services: Python 3.11, FastAPI, SQLAlchemy ORM.</a:t>
            </a:r>
          </a:p>
          <a:p>
            <a:pPr>
              <a:spcBef>
                <a:spcPts val="200"/>
              </a:spcBef>
              <a:defRPr sz="880">
                <a:solidFill>
                  <a:srgbClr val="232323"/>
                </a:solidFill>
                <a:latin typeface="Times New Roman"/>
              </a:defRPr>
            </a:pPr>
            <a:r>
              <a:t>▪ AI / ML Suite: BERT 96-Emotion, Groq Llama-3 70B, SHAP XAI.</a:t>
            </a:r>
          </a:p>
          <a:p>
            <a:pPr>
              <a:spcBef>
                <a:spcPts val="200"/>
              </a:spcBef>
              <a:defRPr sz="880">
                <a:solidFill>
                  <a:srgbClr val="232323"/>
                </a:solidFill>
                <a:latin typeface="Times New Roman"/>
              </a:defRPr>
            </a:pPr>
            <a:r>
              <a:t>▪ Database / Storage: SQLite WAL Mode, Pinecone Vector DB.</a:t>
            </a:r>
          </a:p>
          <a:p>
            <a:pPr>
              <a:spcBef>
                <a:spcPts val="200"/>
              </a:spcBef>
              <a:defRPr sz="880">
                <a:solidFill>
                  <a:srgbClr val="232323"/>
                </a:solidFill>
                <a:latin typeface="Times New Roman"/>
              </a:defRPr>
            </a:pPr>
            <a:r>
              <a:t>▪ Hardware / Auto: ESP32 PPG Sensor, n8n Automation Engine.</a:t>
            </a:r>
          </a:p>
        </p:txBody>
      </p:sp>
      <p:pic>
        <p:nvPicPr>
          <p:cNvPr id="9" name="Picture 8" descr="shot_5_sanctuary_active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434840"/>
            <a:ext cx="3687775" cy="1874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5A5A5A"/>
                </a:solidFill>
                <a:latin typeface="Times New Roman"/>
              </a:defRPr>
            </a:pPr>
            <a:r>
              <a:t>KEFFI AI | Clinical Digital Therapeutics Platform | PRESENTED BY: BALAJI P (Team Leader, CSE, UCE Anna University BIT Campus)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