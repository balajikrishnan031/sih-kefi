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65760" y="1371600"/>
            <a:ext cx="5120640" cy="4754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Problem Statement ID - </a:t>
            </a:r>
            <a:r>
              <a:rPr b="1" sz="1100">
                <a:solidFill>
                  <a:srgbClr val="0F172A"/>
                </a:solidFill>
              </a:rPr>
              <a:t>SIH26094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Problem Statement Title - </a:t>
            </a:r>
            <a:r>
              <a:rPr b="1" sz="1100">
                <a:solidFill>
                  <a:srgbClr val="0F172A"/>
                </a:solidFill>
              </a:rPr>
              <a:t>AI-Powered Dynamic Mental Health Monitoring and Distress Prediction System for Victims of Atrocities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Theme - </a:t>
            </a:r>
            <a:r>
              <a:rPr b="0" sz="1100">
                <a:solidFill>
                  <a:srgbClr val="475569"/>
                </a:solidFill>
              </a:rPr>
              <a:t>MedTech / BioTech / HealthTech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PS Category - </a:t>
            </a:r>
            <a:r>
              <a:rPr b="0" sz="1100">
                <a:solidFill>
                  <a:srgbClr val="475569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Ministry - </a:t>
            </a:r>
            <a:r>
              <a:rPr b="0" sz="1100">
                <a:solidFill>
                  <a:srgbClr val="475569"/>
                </a:solidFill>
              </a:rPr>
              <a:t>Ministry of Social Justice and Empowerment (MoSJE)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Team ID - </a:t>
            </a:r>
            <a:r>
              <a:rPr b="1" sz="1100">
                <a:solidFill>
                  <a:srgbClr val="0F172A"/>
                </a:solidFill>
              </a:rPr>
              <a:t>141444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Team Name (Registered on portal) - </a:t>
            </a:r>
            <a:r>
              <a:rPr b="1" sz="1100">
                <a:solidFill>
                  <a:srgbClr val="0F172A"/>
                </a:solidFill>
              </a:rPr>
              <a:t>DEKO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College - </a:t>
            </a:r>
            <a:r>
              <a:rPr b="0" sz="1100">
                <a:solidFill>
                  <a:srgbClr val="475569"/>
                </a:solidFill>
              </a:rPr>
              <a:t>University College of Engineering, Panruti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D5050"/>
                </a:solidFill>
              </a:rPr>
              <a:t>• Team Leader - </a:t>
            </a:r>
            <a:r>
              <a:rPr b="1" sz="1100">
                <a:solidFill>
                  <a:srgbClr val="0F172A"/>
                </a:solidFill>
              </a:rPr>
              <a:t>BALAJI 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1371600"/>
            <a:ext cx="6035040" cy="47548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600"/>
              </a:spcAft>
              <a:defRPr b="1" sz="1300">
                <a:solidFill>
                  <a:srgbClr val="0D5050"/>
                </a:solidFill>
              </a:defRPr>
            </a:pPr>
            <a:r>
              <a:t>Description: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Victims of atrocities frequently experience prolonged psychological distress after complaint registration due to threats, intimidation, repeated court appearances, delays in investigation/trial, social ostracism, economic hardship, and rehabilitation challenges.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Existing mechanisms focus primarily on post-hoc legal and financial compensation, leaving a critical void in continuous monitoring of victim well-being.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Proposed Technological Solution: An AI-powered Dynamic Mental Health Monitoring &amp; Distress Prediction System (KEFI AI) integrated with NHAA (14566), IVRS calls, SMS, mobile applications, and web portal.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Key Mandate: Continuously monitor psychological well-being, analyze multimodal signals (voice prosody, NLP sentiment, behavior), compute a Dynamic Distress Score (0–100), forecast crises 72 hours before escalation, and automatically alert District Magistrates (DM), SPs, and counsellors.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0D5050"/>
                </a:solidFill>
              </a:defRPr>
            </a:pPr>
            <a:r>
              <a:t>DEKO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97280"/>
            <a:ext cx="11338560" cy="3108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KEFI AI Identity &amp; Greek Origin: </a:t>
            </a:r>
            <a:r>
              <a:rPr sz="1000">
                <a:solidFill>
                  <a:srgbClr val="0F172A"/>
                </a:solidFill>
              </a:rPr>
              <a:t>KEFI AI (Kinematic Emotion &amp; Forecasting Intervention System) — derived from Kéfi (Κέφι): spirit of joy, emotional vitality, passion &amp; inner healing after trauma.</a:t>
            </a:r>
          </a:p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Continuous Post-Complaint Monitoring: </a:t>
            </a:r>
            <a:r>
              <a:rPr sz="1000">
                <a:solidFill>
                  <a:srgbClr val="0F172A"/>
                </a:solidFill>
              </a:rPr>
              <a:t>Proactively monitors crime victims (SC/ST PoA Act 1989 / NHAA 14566) across investigation, court trial, compensation, and rehabilitation phases rather than waiting for crisis requests.</a:t>
            </a:r>
          </a:p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Multichannel Interaction Hub: </a:t>
            </a:r>
            <a:r>
              <a:rPr sz="1000">
                <a:solidFill>
                  <a:srgbClr val="0F172A"/>
                </a:solidFill>
              </a:rPr>
              <a:t>Periodic check-ins via IVRS 14566 calls, Chatbot, SMS, Mobile App, and Web Portal with digital OTP consent and end-to-end AES-256 encryption.</a:t>
            </a:r>
          </a:p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Dual-Risk Assessment Engine: </a:t>
            </a:r>
            <a:r>
              <a:rPr sz="1000">
                <a:solidFill>
                  <a:srgbClr val="0F172A"/>
                </a:solidFill>
              </a:rPr>
              <a:t>1) Immediate Physical Threat Check: Screens for active intimidation language. 2) Dynamic Distress Score (DDS 0–100): Multi-signal mathematical metric (DDS = w1*E + w2*V + w3*B + w4*H + w5*C + w6*T).</a:t>
            </a:r>
          </a:p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72-Hour Longitudinal Crisis Forecasting: </a:t>
            </a:r>
            <a:r>
              <a:rPr sz="1000">
                <a:solidFill>
                  <a:srgbClr val="0F172A"/>
                </a:solidFill>
              </a:rPr>
              <a:t>Calculates distress velocity (dDDS/dt) over past 7 days to predict psychological crisis 72 hours before escalation occurs.</a:t>
            </a:r>
          </a:p>
          <a:p>
            <a:pPr>
              <a:spcAft>
                <a:spcPts val="250"/>
              </a:spcAft>
            </a:pPr>
            <a:r>
              <a:rPr b="1" sz="1050">
                <a:solidFill>
                  <a:srgbClr val="0D5050"/>
                </a:solidFill>
              </a:rPr>
              <a:t>• 3-Tier Risk Bands &amp; Action Matrix: </a:t>
            </a:r>
            <a:r>
              <a:rPr sz="1000">
                <a:solidFill>
                  <a:srgbClr val="0F172A"/>
                </a:solidFill>
              </a:rPr>
              <a:t>🟢 Green/Yellow (0–30): Routine wellness check-ins &amp; self-help tools. 🟠 Orange (31–60): Focused check-ins &amp; scheduled tele-counselling. ⭕ Red (61–100): Real-time alert to District Magistrate (DM) / SP dashboard, witness protection &amp; crisis team dispatch.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4343400"/>
            <a:ext cx="2697480" cy="17830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0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100">
                <a:solidFill>
                  <a:srgbClr val="0D5050"/>
                </a:solidFill>
              </a:defRPr>
            </a:pPr>
            <a:r>
              <a:t>Multichannel Ingestion (14566)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IVRS 14566, Chatbot, SMS, Web &amp; Mobile App with OTP verification &amp; DPDP consent.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46120" y="4343400"/>
            <a:ext cx="2697480" cy="17830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100">
                <a:solidFill>
                  <a:srgbClr val="1A7A7A"/>
                </a:solidFill>
              </a:defRPr>
            </a:pPr>
            <a:r>
              <a:t>Emotion Wheel &amp; Voice AI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Granular Plutchik emotion wheel for non-verbal input + vocal jitter &amp; pitch tremor analysis.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26480" y="4343400"/>
            <a:ext cx="2697480" cy="17830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0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100">
                <a:solidFill>
                  <a:srgbClr val="108C5A"/>
                </a:solidFill>
              </a:defRPr>
            </a:pPr>
            <a:r>
              <a:t>Calm Space &amp; Silent Mode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Box Breathing (4-4-4-4), 5-4-3-2-1 Grounding, Ambient Audio + Silent Mode posture tracking.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9006840" y="4343400"/>
            <a:ext cx="2697480" cy="17830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4 Role-Based Logins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Victim / Witness Portal</a:t>
            </a:r>
            <a:br/>
            <a:r>
              <a:t>2. Field Officer App</a:t>
            </a:r>
            <a:br/>
            <a:r>
              <a:t>3. DM / SP Dashboard</a:t>
            </a:r>
            <a:br/>
            <a:r>
              <a:t>4. National MoSJE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0D5050"/>
                </a:solidFill>
              </a:defRPr>
            </a:pPr>
            <a:r>
              <a:t>DEKO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5120640" cy="493776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600"/>
              </a:spcAft>
              <a:defRPr b="1" sz="1300">
                <a:solidFill>
                  <a:srgbClr val="0D5050"/>
                </a:solidFill>
              </a:defRPr>
            </a:pPr>
            <a:r>
              <a:t>Idea / Approach Flowchart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D5050"/>
                </a:solidFill>
              </a:rPr>
              <a:t>Step 1: Onboarding &amp; Multichannel Ingestion: </a:t>
            </a:r>
            <a:r>
              <a:rPr sz="900">
                <a:solidFill>
                  <a:srgbClr val="0F172A"/>
                </a:solidFill>
              </a:rPr>
              <a:t>Victim complaint registered -&gt; OTP verification -&gt; Digital consent (DPDP Act 2023) -&gt; Scheduled outreach via IVRS 14566, Chatbot, SMS, or Mobile App.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D5050"/>
                </a:solidFill>
              </a:rPr>
              <a:t>Step 2: Multimodal AI Signal Ingestion: </a:t>
            </a:r>
            <a:r>
              <a:rPr sz="900">
                <a:solidFill>
                  <a:srgbClr val="0F172A"/>
                </a:solidFill>
              </a:rPr>
              <a:t>NLP Text Sentiment (Transformer BERT for fear valence &amp; threat keywords 'dhamki', 'withdraw'), Vocal Acoustic Prosody (pitch tremor Hz, jitter %, pause duration), and Behavioral Check-in Gaps.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D5050"/>
                </a:solidFill>
              </a:rPr>
              <a:t>Step 3: Dynamic Distress Scoring (0–100): </a:t>
            </a:r>
            <a:r>
              <a:rPr sz="900">
                <a:solidFill>
                  <a:srgbClr val="0F172A"/>
                </a:solidFill>
              </a:rPr>
              <a:t>Calculates continuous formula: DDS = 0.25*E + 0.20*V + 0.15*B + 0.15*H + 0.10*C + 0.15*T.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D5050"/>
                </a:solidFill>
              </a:rPr>
              <a:t>Step 4: 72h Crisis Forecast &amp; Explainable AI (XAI): </a:t>
            </a:r>
            <a:r>
              <a:rPr sz="900">
                <a:solidFill>
                  <a:srgbClr val="0F172A"/>
                </a:solidFill>
              </a:rPr>
              <a:t>Time-series trend velocity (dDDS/dt) predicts crisis 72h prior. SHAP/LIME point attributions (+21 threat, +18 fear, +14 velocity, +12 missed check-ins, +9 voice stress).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D5050"/>
                </a:solidFill>
              </a:rPr>
              <a:t>Step 5: Automated 3-Tier Risk Action Dispatch: </a:t>
            </a:r>
            <a:r>
              <a:rPr sz="900">
                <a:solidFill>
                  <a:srgbClr val="0F172A"/>
                </a:solidFill>
              </a:rPr>
              <a:t>🟢 0–30: Self-help grounding audio &amp; rights pamphlets | 🟠 31–60: Focused check-ins &amp; tele-counselling | ⭕ 61–100: Real-time alert to DM / SP dashboard, police protection &amp; crisis team dispatch.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5669280" y="1188720"/>
          <a:ext cx="6035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468880"/>
              </a:tblGrid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Existing Manual System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Proposed KEFI AI Platform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</a:tr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Monitoring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Passive (Victim must ask for help during severe crisis)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Proactive &amp; Continuous (Automated scheduled check-ins)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Distress Assessment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Subjective / Nil post-complaint registration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Mathematical Dynamic Distress Score (DDS: 0–100)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Data Modalities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Manual paper records / infrequent police visits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Multimodal (Text NLP, Acoustic Prosody, Behavior, Threat Keywords)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Early Warning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Reactive (Intervention only after suicide / harm)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72-Hour Predictive Trend Velocity Forecasting (dDDS/dt)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705394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Decision Transparency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Black-box officer discretion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Explainable AI (SHAP/LIME) with exact numerical point additions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Governance Visibility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Disconnected district registers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850" b="1">
                          <a:solidFill>
                            <a:srgbClr val="0D5050"/>
                          </a:solidFill>
                        </a:defRPr>
                      </a:pPr>
                      <a:r>
                        <a:t>Real-Time District (DM/SP) &amp; National MoSJE Dashboards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0D5050"/>
                </a:solidFill>
              </a:defRPr>
            </a:pPr>
            <a:r>
              <a:t>DEKO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5303520" cy="228600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200">
                <a:solidFill>
                  <a:srgbClr val="0D5050"/>
                </a:solidFill>
              </a:defRPr>
            </a:pPr>
            <a:r>
              <a:t>Analysis of the Feasibility: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</a:defRPr>
            </a:pPr>
            <a:r>
              <a:t>• Seamless Operational Integration: Integrates directly with existing MoSJE National Helpline Against Atrocities (NHAA 14566), District Magistrates (DM), SPs, and welfare officers without adding administrative workload.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</a:defRPr>
            </a:pPr>
            <a:r>
              <a:t>• Hardware-Agnostic &amp; Scalable: Requires no costly wearable hardware. Operates via standard phone calls (IVRS), SMS, and web portal.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</a:defRPr>
            </a:pPr>
            <a:r>
              <a:t>• Low-Bandwidth Adaptability: Low Internet Mode allows offline grounding audio, low-data layout, and basic SMS fallback for remote rural atrocity victims.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3657600"/>
            <a:ext cx="5303520" cy="24688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200">
                <a:solidFill>
                  <a:srgbClr val="D97706"/>
                </a:solidFill>
              </a:defRPr>
            </a:pPr>
            <a:r>
              <a:t>Potential Challenges &amp; Strategies for Overcoming:</a:t>
            </a:r>
          </a:p>
          <a:p>
            <a:pPr>
              <a:defRPr b="1" sz="950">
                <a:solidFill>
                  <a:srgbClr val="0D5050"/>
                </a:solidFill>
              </a:defRPr>
            </a:pPr>
            <a:r>
              <a:t>• Risk 1: Alarm Fatigue &amp; False Positives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↳ Strategy: Dual-layer verification combining automated AI Distress Score with Field Welfare Officer ground observation notes.</a:t>
            </a:r>
          </a:p>
          <a:p>
            <a:pPr>
              <a:defRPr b="1" sz="950">
                <a:solidFill>
                  <a:srgbClr val="0D5050"/>
                </a:solidFill>
              </a:defRPr>
            </a:pPr>
            <a:r>
              <a:t>• Risk 2: Data Privacy &amp; Victim Security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↳ Strategy: 100% DPDP Act 2023 compliant with end-to-end AES-256 encryption, OTP consent, and victim data purge controls.</a:t>
            </a:r>
          </a:p>
          <a:p>
            <a:pPr>
              <a:defRPr b="1" sz="950">
                <a:solidFill>
                  <a:srgbClr val="0D5050"/>
                </a:solidFill>
              </a:defRPr>
            </a:pPr>
            <a:r>
              <a:t>• Risk 3: Literacy &amp; Multilingual Barriers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↳ Strategy: Multilingual conversational AI supporting Tanglish (தமிழ்-English), Tamil, Hindi, and English + Silent Mode non-verbal support.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852160" y="1188720"/>
            <a:ext cx="5852160" cy="493776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800"/>
              </a:spcAft>
              <a:defRPr b="1" sz="1300">
                <a:solidFill>
                  <a:srgbClr val="0D5050"/>
                </a:solidFill>
              </a:defRPr>
            </a:pPr>
            <a:r>
              <a:t>TECHNOLOGICAL STACK: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Frontend Architecture: </a:t>
            </a:r>
            <a:r>
              <a:rPr sz="950">
                <a:solidFill>
                  <a:srgbClr val="0F172A"/>
                </a:solidFill>
              </a:rPr>
              <a:t>React 18, Vite 8, Vanilla CSS &amp; Tailwind, Web Speech API (Voice Recognition &amp; TTS), face-api.js for Silent Vision Detection.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Backend Microservices: </a:t>
            </a:r>
            <a:r>
              <a:rPr sz="950">
                <a:solidFill>
                  <a:srgbClr val="0F172A"/>
                </a:solidFill>
              </a:rPr>
              <a:t>Python 3.12, FastAPI, Uvicorn ASGI Server, RESTful API architecture with &lt;250ms response latency.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AI / NLP &amp; Acoustic Models: </a:t>
            </a:r>
            <a:r>
              <a:rPr sz="950">
                <a:solidFill>
                  <a:srgbClr val="0F172A"/>
                </a:solidFill>
              </a:rPr>
              <a:t>Hugging Face Transformers (BERT Sentiment for fear valence), Acoustic Speech Prosody Analyzer (Pitch Tremor Hz, Jitter %, Pause Gaps), Cognitive Distortion Mapper.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Predictive &amp; Explainable AI (XAI): </a:t>
            </a:r>
            <a:r>
              <a:rPr sz="950">
                <a:solidFill>
                  <a:srgbClr val="0F172A"/>
                </a:solidFill>
              </a:rPr>
              <a:t>Time-Series Distress Velocity Forecasting (dDDS/dt for 72h crisis prediction), SHAP &amp; LIME Hybrid Point Attribution Engine (+21, +18, +14, +12, +9).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Database &amp; Cloud Infrastructure: </a:t>
            </a:r>
            <a:r>
              <a:rPr sz="950">
                <a:solidFill>
                  <a:srgbClr val="0F172A"/>
                </a:solidFill>
              </a:rPr>
              <a:t>SQLite / PostgreSQL with SQLAlchemy ORM, Redis for session caching, Docker containerization for MeghRaj / NIC Cloud deployment.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D5050"/>
                </a:solidFill>
              </a:rPr>
              <a:t>• Security &amp; Governance: </a:t>
            </a:r>
            <a:r>
              <a:rPr sz="950">
                <a:solidFill>
                  <a:srgbClr val="0F172A"/>
                </a:solidFill>
              </a:rPr>
              <a:t>Digital Personal Data Protection (DPDP) Act 2023 Compliance, AES-256 Data Encryption at rest &amp; in transit, SHA-256 OTP Authentication, Role-Based Access Control (RBAC).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0D5050"/>
                </a:solidFill>
              </a:defRPr>
            </a:pPr>
            <a:r>
              <a:t>DEKO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2697480" cy="137160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0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  <a:defRPr b="1" sz="1050">
                <a:solidFill>
                  <a:srgbClr val="0D5050"/>
                </a:solidFill>
              </a:defRPr>
            </a:pPr>
            <a:r>
              <a:t>Victim Portal &amp; Emotion Wheel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Granular emotion wheel, daily mood log &amp; instant calming support.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46120" y="1188720"/>
            <a:ext cx="2697480" cy="137160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A7A7A"/>
                </a:solidFill>
              </a:defRPr>
            </a:pPr>
            <a:r>
              <a:t>Dynamic Distress (0-100) &amp; Trend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Continuous score tracking with 72h crisis velocity forecasting.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2697480" cy="137160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  <a:defRPr b="1" sz="1050">
                <a:solidFill>
                  <a:srgbClr val="DC2626"/>
                </a:solidFill>
              </a:defRPr>
            </a:pPr>
            <a:r>
              <a:t>DM / SP Alert &amp; Intervention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Real-time red-band crisis alerts, witness protection &amp; officer dispatch.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9006840" y="1188720"/>
            <a:ext cx="2697480" cy="137160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0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08C5A"/>
                </a:solidFill>
              </a:defRPr>
            </a:pPr>
            <a:r>
              <a:t>Calm Space &amp; Silent Sanctuary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Box Breathing (4-4-4-4), 5-4-3-2-1 Grounding &amp; ambient audio.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743200"/>
            <a:ext cx="5394960" cy="33832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200">
                <a:solidFill>
                  <a:srgbClr val="0D5050"/>
                </a:solidFill>
              </a:defRPr>
            </a:pPr>
            <a:r>
              <a:t>Potential Impact on the Target Audience: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D5050"/>
                </a:solidFill>
              </a:rPr>
              <a:t>• Victims of Rape, Gang Rape &amp; Grievous Hurt: </a:t>
            </a:r>
            <a:r>
              <a:rPr sz="900">
                <a:solidFill>
                  <a:srgbClr val="0F172A"/>
                </a:solidFill>
              </a:rPr>
              <a:t>Continuous psychological care reduces trauma isolation and prevents severe PTSD, self-harm, and psychological collapse.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D5050"/>
                </a:solidFill>
              </a:rPr>
              <a:t>• Witnesses Facing Intimidation &amp; Threats: </a:t>
            </a:r>
            <a:r>
              <a:rPr sz="900">
                <a:solidFill>
                  <a:srgbClr val="0F172A"/>
                </a:solidFill>
              </a:rPr>
              <a:t>Proactive screening of coercion keywords and immediate witness protection prevent trial retraction and intimidation.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D5050"/>
                </a:solidFill>
              </a:rPr>
              <a:t>• Families Affected by Caste-Based Violence: </a:t>
            </a:r>
            <a:r>
              <a:rPr sz="900">
                <a:solidFill>
                  <a:srgbClr val="0F172A"/>
                </a:solidFill>
              </a:rPr>
              <a:t>Systematic monitoring of relief distribution, legal aid progress, and rehabilitation milestones under SC/ST PoA Act.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D5050"/>
                </a:solidFill>
              </a:rPr>
              <a:t>• Victim Empowerment &amp; Autonomy: </a:t>
            </a:r>
            <a:r>
              <a:rPr sz="900">
                <a:solidFill>
                  <a:srgbClr val="0F172A"/>
                </a:solidFill>
              </a:rPr>
              <a:t>Equipped with self-help grounding tools, box breathing guides, legal rights pamphlets, and transparent feedback channels.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0" y="2743200"/>
            <a:ext cx="5760720" cy="33832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0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200">
                <a:solidFill>
                  <a:srgbClr val="108C5A"/>
                </a:solidFill>
              </a:defRPr>
            </a:pPr>
            <a:r>
              <a:t>Benefits of the Solution (Social, Legal, Administrative):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D5050"/>
                </a:solidFill>
              </a:rPr>
              <a:t>• Early Crisis Detection &amp; Prevention: </a:t>
            </a:r>
            <a:r>
              <a:rPr sz="900">
                <a:solidFill>
                  <a:srgbClr val="0F172A"/>
                </a:solidFill>
              </a:rPr>
              <a:t>Intercepts acute distress 72 hours before crisis, enabling timely tele-counselling and suicide prevention.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D5050"/>
                </a:solidFill>
              </a:rPr>
              <a:t>• Strengthened Justice System Trust: </a:t>
            </a:r>
            <a:r>
              <a:rPr sz="900">
                <a:solidFill>
                  <a:srgbClr val="0F172A"/>
                </a:solidFill>
              </a:rPr>
              <a:t>Proactive state care rebuilds victim faith, drastically reducing trial dropouts and witness hostility in court.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D5050"/>
                </a:solidFill>
              </a:rPr>
              <a:t>• Multi-Agency Synergy: </a:t>
            </a:r>
            <a:r>
              <a:rPr sz="900">
                <a:solidFill>
                  <a:srgbClr val="0F172A"/>
                </a:solidFill>
              </a:rPr>
              <a:t>Unifies welfare departments, police liaisons, and tele-counsellors under a shared real-time incident workflow.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D5050"/>
                </a:solidFill>
              </a:rPr>
              <a:t>• Evidence-Based Governance: </a:t>
            </a:r>
            <a:r>
              <a:rPr sz="900">
                <a:solidFill>
                  <a:srgbClr val="0F172A"/>
                </a:solidFill>
              </a:rPr>
              <a:t>State and National MoSJE heatmaps provide administrators and District Magistrates data-driven insights on atrocity hotspots.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D5050"/>
                </a:solidFill>
              </a:rPr>
              <a:t>• Reduced Administrative Burden: </a:t>
            </a:r>
            <a:r>
              <a:rPr sz="900">
                <a:solidFill>
                  <a:srgbClr val="0F172A"/>
                </a:solidFill>
              </a:rPr>
              <a:t>Automated multichannel check-ins and AI triage cut manual welfare follow-up overhead by over 70%.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0D5050"/>
                </a:solidFill>
              </a:defRPr>
            </a:pPr>
            <a:r>
              <a:t>DEKO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338560" cy="2011680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1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200">
                <a:solidFill>
                  <a:srgbClr val="0D5050"/>
                </a:solidFill>
              </a:defRPr>
            </a:pPr>
            <a:r>
              <a:t>Reference Links &amp; Research Work: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Statutory Act: </a:t>
            </a:r>
            <a:r>
              <a:rPr sz="900">
                <a:solidFill>
                  <a:srgbClr val="0F172A"/>
                </a:solidFill>
              </a:rPr>
              <a:t>Scheduled Castes and the Scheduled Tribes (Prevention of Atrocities) Act, 1989 &amp; PoA Rules 1995: https://socialjustice.gov.in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National Helpline: </a:t>
            </a:r>
            <a:r>
              <a:rPr sz="900">
                <a:solidFill>
                  <a:srgbClr val="0F172A"/>
                </a:solidFill>
              </a:rPr>
              <a:t>MoSJE National Helpline Against Atrocities (NHAA 14566) Integration: https://socialjustice.gov.in/schemes/nhaa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Data Privacy Law: </a:t>
            </a:r>
            <a:r>
              <a:rPr sz="900">
                <a:solidFill>
                  <a:srgbClr val="0F172A"/>
                </a:solidFill>
              </a:rPr>
              <a:t>Digital Personal Data Protection (DPDP) Act, 2023 — Government of India: https://www.meity.gov.in/dpdp-act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Clinical Research: </a:t>
            </a:r>
            <a:r>
              <a:rPr sz="900">
                <a:solidFill>
                  <a:srgbClr val="0F172A"/>
                </a:solidFill>
              </a:rPr>
              <a:t>Scherer, K. R., et al. (2013). Acoustic Markers of Speech Under Psychological Stress. Computer Speech &amp; Language.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Explainable AI: </a:t>
            </a:r>
            <a:r>
              <a:rPr sz="900">
                <a:solidFill>
                  <a:srgbClr val="0F172A"/>
                </a:solidFill>
              </a:rPr>
              <a:t>Lundberg, S. M., &amp; Lee, S.-I. (2017). A Unified Approach to Interpreting Model Predictions (SHAP). NeurIPS.</a:t>
            </a:r>
          </a:p>
          <a:p>
            <a:pPr>
              <a:spcAft>
                <a:spcPts val="150"/>
              </a:spcAft>
            </a:pPr>
            <a:r>
              <a:rPr b="1" sz="950">
                <a:solidFill>
                  <a:srgbClr val="0D5050"/>
                </a:solidFill>
              </a:rPr>
              <a:t>• Project Repository: </a:t>
            </a:r>
            <a:r>
              <a:rPr sz="900">
                <a:solidFill>
                  <a:srgbClr val="0F172A"/>
                </a:solidFill>
              </a:rPr>
              <a:t>KEFI AI Full Source Code &amp; Web Application: https://github.com/balajikrishnan031/SIH-KEFI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338328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645920"/>
                <a:gridCol w="4023360"/>
              </a:tblGrid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STREAM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ROLE / CONTACT</a:t>
                      </a:r>
                    </a:p>
                  </a:txBody>
                  <a:tcPr anchor="ctr">
                    <a:solidFill>
                      <a:srgbClr val="0D5050"/>
                    </a:solidFill>
                  </a:tcPr>
                </a:tc>
              </a:tr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BALAJI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LEADER (balajikrishnan031@gmail.com | 9342636595)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NAVANEETHAM V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TEAM_MEMBER (er.navaneetham@gmail.com | 9487461627)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MALINI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TEAM_MEMBER (malini28102005v@gmail.com | 8807984385)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DHAVAN R G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TEAM_MEMBER (rgdhavan50@gmail.com | 9342529181)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391885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DEEBIKA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TEAM_MEMBER (deebikasivaprakasam@gmail.com | 6380433293)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DHARA R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TEAM_MEMBER (dhararamesh2416@gmail.com | 9043644162)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